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21"/>
    <p:sldId id="271" r:id="rId2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Used Oil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6200</c:v>
                </c:pt>
                <c:pt idx="1">
                  <c:v>7100</c:v>
                </c:pt>
                <c:pt idx="2">
                  <c:v>6800</c:v>
                </c:pt>
                <c:pt idx="3">
                  <c:v>8400</c:v>
                </c:pt>
                <c:pt idx="4">
                  <c:v>9100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E-Waste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3100</c:v>
                </c:pt>
                <c:pt idx="1">
                  <c:v>2800</c:v>
                </c:pt>
                <c:pt idx="2">
                  <c:v>4200</c:v>
                </c:pt>
                <c:pt idx="3">
                  <c:v>4600</c:v>
                </c:pt>
                <c:pt idx="4">
                  <c:v>5300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F3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2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0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3.png"/><Relationship Id="rId9" Type="http://schemas.openxmlformats.org/officeDocument/2006/relationships/image" Target="../media/image-8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4" Type="http://schemas.openxmlformats.org/officeDocument/2006/relationships/image" Target="../media/image-3-4.png"/><Relationship Id="rId5" Type="http://schemas.openxmlformats.org/officeDocument/2006/relationships/image" Target="../media/image-7-12.png"/><Relationship Id="rId6" Type="http://schemas.openxmlformats.org/officeDocument/2006/relationships/image" Target="../media/image-3-5.png"/><Relationship Id="rId7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5" Type="http://schemas.openxmlformats.org/officeDocument/2006/relationships/image" Target="../media/image-7-12.png"/><Relationship Id="rId6" Type="http://schemas.openxmlformats.org/officeDocument/2006/relationships/image" Target="../media/image-10-6.png"/><Relationship Id="rId7" Type="http://schemas.openxmlformats.org/officeDocument/2006/relationships/image" Target="../media/image-10-4.png"/><Relationship Id="rId8" Type="http://schemas.openxmlformats.org/officeDocument/2006/relationships/image" Target="../media/image-4-5.png"/><Relationship Id="rId9" Type="http://schemas.openxmlformats.org/officeDocument/2006/relationships/image" Target="../media/image-4-6.png"/><Relationship Id="rId4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5-5.png"/><Relationship Id="rId2" Type="http://schemas.openxmlformats.org/officeDocument/2006/relationships/image" Target="../media/image-5-4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loop/pptx/icons/recycle_white.png"/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502920"/>
            <a:ext cx="484632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118872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4" name="Shape 1"/>
          <p:cNvSpPr/>
          <p:nvPr/>
        </p:nvSpPr>
        <p:spPr>
          <a:xfrm>
            <a:off x="9692640" y="91440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5" name="Shape 2"/>
          <p:cNvSpPr/>
          <p:nvPr/>
        </p:nvSpPr>
        <p:spPr>
          <a:xfrm>
            <a:off x="10789920" y="173736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0" y="274320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7" name="Shape 4"/>
          <p:cNvSpPr/>
          <p:nvPr/>
        </p:nvSpPr>
        <p:spPr>
          <a:xfrm>
            <a:off x="11155680" y="310896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0" y="420624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0" y="493776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466344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Shape 8"/>
          <p:cNvSpPr/>
          <p:nvPr/>
        </p:nvSpPr>
        <p:spPr>
          <a:xfrm>
            <a:off x="11612880" y="2194560"/>
            <a:ext cx="64008" cy="6400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IDEATION ROUND · CLIMATE ACTION &amp; SUSTAINABILITY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2148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ReLoop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822960" y="34747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D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Resource Exchange Platform for Used Oil,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D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&amp; Rainwater Harvesting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296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only stays waste until it's connected to the right buyer, recycler, or use case. ReLoop is that connection — as one web platform.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19050">
            <a:solidFill>
              <a:srgbClr val="66BB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166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 → Ideation Round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55321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45A2A"/>
          </a:solidFill>
          <a:ln/>
        </p:spPr>
      </p:sp>
      <p:pic>
        <p:nvPicPr>
          <p:cNvPr id="19" name="Image 1" descr="/home/claude/reloop/pptx/icons/tin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62356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25296" y="55321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Exchange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450592" y="5532120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245A2A"/>
          </a:solidFill>
          <a:ln/>
        </p:spPr>
      </p:sp>
      <p:pic>
        <p:nvPicPr>
          <p:cNvPr id="22" name="Image 2" descr="/home/claude/reloop/pptx/icons/laptop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56235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852928" y="5532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Market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242816" y="553212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45A2A"/>
          </a:solidFill>
          <a:ln/>
        </p:spPr>
      </p:sp>
      <p:pic>
        <p:nvPicPr>
          <p:cNvPr id="25" name="Image 3" descr="/home/claude/reloop/pptx/icons/cloudRai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562356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45152" y="55321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AI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870448" y="553212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245A2A"/>
          </a:solidFill>
          <a:ln/>
        </p:spPr>
      </p:sp>
      <p:pic>
        <p:nvPicPr>
          <p:cNvPr id="28" name="Image 4" descr="/home/claude/reloop/pptx/icons/syncAl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562356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72784" y="55321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Hardware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822960" y="6016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EcoNova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22960" y="6309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Kalal · Shivam Mathur · Arnav Shahi · Mohit Sapkal  ·  Symbiosis University of Applied Sciences, Indore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resources, discarded instead of recovered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reloop/pptx/icons/tin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OIL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&amp; lubricant oil poured down drains or general waste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Contaminates water &amp; soil when disposed improperly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rarely know a buyer market even exists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8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1691640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1" name="Image 1" descr="/home/claude/reloop/pptx/icons/lapt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3018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laptops, batteries &amp; cables pile up with no clear pathway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recyclers leach toxic material into soil &amp; water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items get scrapped alongside genuinely broken ones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7317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E8F2FC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1691640"/>
            <a:ext cx="640080" cy="64008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6" name="Image 2" descr="/home/claude/reloop/pptx/icons/cloud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18516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1637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RAINWATER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1637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to estimate rooftop harvest potential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systems exist, usage is rarely tracked vs. harvested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harvesting investment stays invisible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solved — if at all — by a separate, single-purpose tool. None feed a shared dashboard or incentive system.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exchanges. One AI core. One dashboard.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reloop/pptx/icons/tin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630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Oil Exchange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953512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0" name="Image 1" descr="/home/claude/reloop/pptx/icons/lapt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07924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2491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Marketplace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941064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8F2FC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4169664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4" name="Image 2" descr="/home/claude/reloop/pptx/icons/cloud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29539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41064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Optimizer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3611880" y="1988820"/>
            <a:ext cx="1097280" cy="1216152"/>
          </a:xfrm>
          <a:prstGeom prst="line">
            <a:avLst/>
          </a:prstGeom>
          <a:noFill/>
          <a:ln w="19050">
            <a:solidFill>
              <a:srgbClr val="9FB7A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11880" y="3204972"/>
            <a:ext cx="1097280" cy="0"/>
          </a:xfrm>
          <a:prstGeom prst="line">
            <a:avLst/>
          </a:prstGeom>
          <a:noFill/>
          <a:ln w="19050">
            <a:solidFill>
              <a:srgbClr val="9FB7A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flipV="1">
            <a:off x="3611880" y="3204972"/>
            <a:ext cx="1097280" cy="1216152"/>
          </a:xfrm>
          <a:prstGeom prst="line">
            <a:avLst/>
          </a:prstGeom>
          <a:noFill/>
          <a:ln w="19050">
            <a:solidFill>
              <a:srgbClr val="9FB7A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09160" y="2427732"/>
            <a:ext cx="1554480" cy="1554480"/>
          </a:xfrm>
          <a:prstGeom prst="ellipse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5400000">
              <a:srgbClr val="1B5E20">
                <a:alpha val="22000"/>
              </a:srgbClr>
            </a:outerShdw>
          </a:effectLst>
        </p:spPr>
      </p:sp>
      <p:pic>
        <p:nvPicPr>
          <p:cNvPr id="20" name="Image 3" descr="/home/claude/reloop/pptx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702052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09160" y="36164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63640" y="3204972"/>
            <a:ext cx="731520" cy="0"/>
          </a:xfrm>
          <a:prstGeom prst="line">
            <a:avLst/>
          </a:prstGeom>
          <a:noFill/>
          <a:ln w="19050">
            <a:solidFill>
              <a:srgbClr val="9FB7A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95160" y="2336292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269480" y="261061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5" name="Image 4" descr="/home/claude/reloop/pptx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752344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01000" y="25374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Impact Dashboard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269480" y="32049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earned, waste diverted, water saved &amp; CO₂ offset — in one gamified view.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turns institutional "waste" into tracked, tradeable, revenue-generating resources.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3017520" y="6035040"/>
            <a:ext cx="6126480" cy="0"/>
          </a:xfrm>
          <a:prstGeom prst="line">
            <a:avLst/>
          </a:prstGeom>
          <a:noFill/>
          <a:ln w="9525">
            <a:solidFill>
              <a:srgbClr val="9FB7A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0080" y="614476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 ·  AI Pricing  ·  Bidding  ·  Pickup Scheduling  ·  Triage  ·  Forecasting  ·  Tracking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USED OIL EXCHANGE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drained oil into direct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2763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reloop/pptx/icons/camera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7636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Creation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27632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type, volume &amp; pickup location listed with photo verification.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55868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1900" y="162763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reloop/pptx/icons/chartLi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62" y="17636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Guidance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43420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fair price range from oil type, volume &amp; transaction history.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12724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home/claude/reloop/pptx/icons/gav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326331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/ Buy-Now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27632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biodiesel &amp; recycling buyers bid or buy at market-linked rates.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55868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1900" y="312724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reloop/pptx/icons/tru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962" y="326331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Scheduling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43420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scheduling and route confirmation between seller and buyer.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62686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/home/claude/reloop/pptx/icons/shield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476292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Buyer Network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27632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vetted biodiesel producers &amp; recyclers can transact on the platform.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255868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1900" y="462686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5" descr="/home/claude/reloop/pptx/icons/clipboard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962" y="476292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43420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Tracking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43420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record of quantity, buyer &amp; date for CSR/ESG reporting.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640080" y="5870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Poured down drains, no value</a:t>
            </a:r>
            <a:endParaRPr lang="en-US" sz="1200" dirty="0"/>
          </a:p>
        </p:txBody>
      </p:sp>
      <p:pic>
        <p:nvPicPr>
          <p:cNvPr id="35" name="Image 6" descr="/home/claude/reloop/pptx/icons/arrowRigh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5897880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20640" y="5870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Listed, priced &amp; sold to verified buyers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E-WASTE 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decides: refurbish, donate, or recycle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2763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6" name="Image 0" descr="/home/claude/reloop/pptx/icons/camera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7636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Listing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27632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upload photos &amp; condition details for laptops, batteries, cables.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55868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1900" y="162763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1" name="Image 1" descr="/home/claude/reloop/pptx/icons/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62" y="17636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Triage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43420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suggests refurbish/donate vs. certified-recycler routing.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127248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6" name="Image 2" descr="/home/claude/reloop/pptx/icons/shield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326331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Recycler Network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27632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items route only to certified recyclers — no informal disposal.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55868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1900" y="3127248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1" name="Image 3" descr="/home/claude/reloop/pptx/icons/handsh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962" y="326331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Pathway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43420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but outdated equipment routes to donation partners instead.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626864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6" name="Image 4" descr="/home/claude/reloop/pptx/icons/ta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476292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Value Estimate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27632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resale or scrap value before a listing goes live.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255868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1900" y="4626864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31" name="Image 5" descr="/home/claude/reloop/pptx/icons/clipboard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962" y="476292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43420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Tracking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43420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tracking record generated per item or batch for reporting.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640080" y="5870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rooms, no disposal path</a:t>
            </a:r>
            <a:endParaRPr lang="en-US" sz="1200" dirty="0"/>
          </a:p>
        </p:txBody>
      </p:sp>
      <p:pic>
        <p:nvPicPr>
          <p:cNvPr id="35" name="Image 6" descr="/home/claude/reloop/pptx/icons/arrowRigh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5897880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20640" y="5870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Triaged, routed &amp; tracked automatically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RAINWATER HARVESTING OPTIMIZER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invisible water potential 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27632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6" name="Image 0" descr="/home/claude/reloop/pptx/icons/cloudRai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7636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Potential Calculator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27632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yield from rooftop area using regional rainfall API data.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55868" y="1371600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1900" y="1627632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1" name="Image 1" descr="/home/claude/reloop/pptx/icons/chartLi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62" y="17636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55448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Forecast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43420" y="1938528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upcoming high-rainfall periods so storage can be prepared.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127248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6" name="Image 2" descr="/home/claude/reloop/pptx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326331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27632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periodic meter readings logged against harvested volume.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55868" y="2871216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1900" y="3127248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21" name="Image 3" descr="/home/claude/reloop/pptx/icons/ta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962" y="326331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3054096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Sizing &amp; ROI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43420" y="3438144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storage size and projects payback period for new systems.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626864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26" name="Image 4" descr="/home/claude/reloop/pptx/icons/mapMarker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4762927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Estimates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27632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adjust automatically to the institution's exact region.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255868" y="4370832"/>
            <a:ext cx="5295748" cy="1298448"/>
          </a:xfrm>
          <a:prstGeom prst="roundRect">
            <a:avLst>
              <a:gd name="adj" fmla="val 563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1900" y="4626864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31" name="Image 5" descr="/home/claude/reloop/pptx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962" y="476292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43420" y="4553712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Water-Saved Counter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43420" y="4937760"/>
            <a:ext cx="410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into the dashboard as a live, trackable sustainability metric.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640080" y="5870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rooftop runoff</a:t>
            </a:r>
            <a:endParaRPr lang="en-US" sz="1200" dirty="0"/>
          </a:p>
        </p:txBody>
      </p:sp>
      <p:pic>
        <p:nvPicPr>
          <p:cNvPr id="35" name="Image 6" descr="/home/claude/reloop/pptx/icons/arrowRigh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5897880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20640" y="5870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Forecasted, tracked &amp; optimized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listing to revenue — in five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331720"/>
            <a:ext cx="594360" cy="59436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6" name="Image 0" descr="/home/claude/reloop/pptx/icons/camera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24803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lists oil type, volume &amp; photo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76172" y="1901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61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1" descr="/home/claude/reloop/pptx/icons/arrowRight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807" y="28346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99334" y="21031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39414" y="2331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/home/claude/reloop/pptx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04" y="248031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0774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36494" y="3337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 fair price range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35426" y="1901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3542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9" name="Image 3" descr="/home/claude/reloop/pptx/icons/arrow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061" y="283464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58588" y="21031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98668" y="2331720"/>
            <a:ext cx="594360" cy="59436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4" descr="/home/claude/reloop/pptx/icons/gave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58" y="248031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0028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295748" y="3337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buyer bids or buys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894680" y="1901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89468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7" name="Image 5" descr="/home/claude/reloop/pptx/icons/arrowRight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8314" y="283464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417841" y="21031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057921" y="2331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0" name="Image 6" descr="/home/claude/reloop/pptx/icons/tru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511" y="2480310"/>
            <a:ext cx="297180" cy="2971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09281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7555001" y="3337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scheduling confirms pickup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8153933" y="1901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8153933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5" name="Image 7" descr="/home/claude/reloop/pptx/icons/arrowRight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568" y="2834640"/>
            <a:ext cx="274320" cy="27432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677095" y="21031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0317175" y="2331720"/>
            <a:ext cx="594360" cy="59436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38" name="Image 8" descr="/home/claude/reloop/pptx/icons/clipboard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5765" y="2480310"/>
            <a:ext cx="297180" cy="2971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768535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9814255" y="3337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revenue &amp; impact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10413187" y="1901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10413187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listing → match → track mechanic powers the E-Waste Marketplace as well.</a:t>
            </a:r>
            <a:endParaRPr lang="en-US" sz="1300" dirty="0"/>
          </a:p>
        </p:txBody>
      </p:sp>
      <p:sp>
        <p:nvSpPr>
          <p:cNvPr id="44" name="Shape 33"/>
          <p:cNvSpPr/>
          <p:nvPr/>
        </p:nvSpPr>
        <p:spPr>
          <a:xfrm>
            <a:off x="3017520" y="4846320"/>
            <a:ext cx="6126480" cy="0"/>
          </a:xfrm>
          <a:prstGeom prst="line">
            <a:avLst/>
          </a:prstGeom>
          <a:noFill/>
          <a:ln w="9525">
            <a:solidFill>
              <a:srgbClr val="9FB7A8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46" name="Image 9" descr="/home/claude/reloop/pptx/icons/checkCirc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491" y="5161331"/>
            <a:ext cx="211226" cy="21122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143000" y="50474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buyers only — no open marketplace risk</a:t>
            </a:r>
            <a:endParaRPr lang="en-US" sz="1050" dirty="0"/>
          </a:p>
        </p:txBody>
      </p:sp>
      <p:sp>
        <p:nvSpPr>
          <p:cNvPr id="48" name="Shape 36"/>
          <p:cNvSpPr/>
          <p:nvPr/>
        </p:nvSpPr>
        <p:spPr>
          <a:xfrm>
            <a:off x="4368698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49" name="Image 10" descr="/home/claude/reloop/pptx/icons/chartLin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5109" y="5161331"/>
            <a:ext cx="211226" cy="21122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871618" y="50474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removes seller guesswork</a:t>
            </a:r>
            <a:endParaRPr lang="en-US" sz="1050" dirty="0"/>
          </a:p>
        </p:txBody>
      </p:sp>
      <p:sp>
        <p:nvSpPr>
          <p:cNvPr id="51" name="Shape 38"/>
          <p:cNvSpPr/>
          <p:nvPr/>
        </p:nvSpPr>
        <p:spPr>
          <a:xfrm>
            <a:off x="8097317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2" name="Image 11" descr="/home/claude/reloop/pptx/icons/syncAl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3728" y="5161331"/>
            <a:ext cx="211226" cy="21122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8600237" y="50474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 — runs entirely on listings &amp; APIs</a:t>
            </a:r>
            <a:endParaRPr lang="en-US" sz="1050" dirty="0"/>
          </a:p>
        </p:txBody>
      </p:sp>
      <p:sp>
        <p:nvSpPr>
          <p:cNvPr id="54" name="Text 4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every resource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5029200"/>
          </a:xfrm>
          <a:prstGeom prst="roundRect">
            <a:avLst>
              <a:gd name="adj" fmla="val 1455"/>
            </a:avLst>
          </a:prstGeom>
          <a:solidFill>
            <a:srgbClr val="FAFCFA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0911535" cy="329184"/>
          </a:xfrm>
          <a:prstGeom prst="roundRect">
            <a:avLst>
              <a:gd name="adj" fmla="val 13889"/>
            </a:avLst>
          </a:prstGeom>
          <a:solidFill>
            <a:srgbClr val="EDF3E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490472"/>
            <a:ext cx="91440" cy="91440"/>
          </a:xfrm>
          <a:prstGeom prst="ellipse">
            <a:avLst/>
          </a:prstGeom>
          <a:solidFill>
            <a:srgbClr val="E0625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90472"/>
            <a:ext cx="91440" cy="91440"/>
          </a:xfrm>
          <a:prstGeom prst="ellipse">
            <a:avLst/>
          </a:prstGeom>
          <a:solidFill>
            <a:srgbClr val="E8C24D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490472"/>
            <a:ext cx="91440" cy="91440"/>
          </a:xfrm>
          <a:prstGeom prst="ellipse">
            <a:avLst/>
          </a:prstGeom>
          <a:solidFill>
            <a:srgbClr val="5BB36A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3716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reloop.app/dashboard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700784"/>
            <a:ext cx="1600200" cy="4700016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0" descr="/home/claude/reloop/pptx/icons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7510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19385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9808" y="2468880"/>
            <a:ext cx="1380744" cy="420624"/>
          </a:xfrm>
          <a:prstGeom prst="roundRect">
            <a:avLst>
              <a:gd name="adj" fmla="val 13043"/>
            </a:avLst>
          </a:prstGeom>
          <a:solidFill>
            <a:srgbClr val="245A2A"/>
          </a:solidFill>
          <a:ln/>
        </p:spPr>
      </p:sp>
      <p:pic>
        <p:nvPicPr>
          <p:cNvPr id="14" name="Image 1" descr="/home/claude/reloop/pptx/icons/tin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4203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25054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Exchange</a:t>
            </a:r>
            <a:endParaRPr lang="en-US" sz="1000" dirty="0"/>
          </a:p>
        </p:txBody>
      </p:sp>
      <p:pic>
        <p:nvPicPr>
          <p:cNvPr id="16" name="Image 2" descr="/home/claude/reloop/pptx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089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0723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</a:t>
            </a:r>
            <a:endParaRPr lang="en-US" sz="1000" dirty="0"/>
          </a:p>
        </p:txBody>
      </p:sp>
      <p:pic>
        <p:nvPicPr>
          <p:cNvPr id="18" name="Image 3" descr="/home/claude/reloop/pptx/icons/cloud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6758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639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</a:t>
            </a:r>
            <a:endParaRPr lang="en-US" sz="1000" dirty="0"/>
          </a:p>
        </p:txBody>
      </p:sp>
      <p:pic>
        <p:nvPicPr>
          <p:cNvPr id="20" name="Image 4" descr="/home/claude/reloop/pptx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4281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42062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2468880" y="1883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Overview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800600" y="1947672"/>
            <a:ext cx="91440" cy="91440"/>
          </a:xfrm>
          <a:prstGeom prst="ellipse">
            <a:avLst/>
          </a:prstGeom>
          <a:solidFill>
            <a:srgbClr val="5BB36A"/>
          </a:solidFill>
          <a:ln/>
        </p:spPr>
      </p:sp>
      <p:sp>
        <p:nvSpPr>
          <p:cNvPr id="24" name="Text 17"/>
          <p:cNvSpPr/>
          <p:nvPr/>
        </p:nvSpPr>
        <p:spPr>
          <a:xfrm>
            <a:off x="4937760" y="18836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468880" y="2295144"/>
            <a:ext cx="2007794" cy="914400"/>
          </a:xfrm>
          <a:prstGeom prst="roundRect">
            <a:avLst>
              <a:gd name="adj" fmla="val 8000"/>
            </a:avLst>
          </a:prstGeom>
          <a:solidFill>
            <a:srgbClr val="F1F8F0"/>
          </a:solidFill>
          <a:ln/>
        </p:spPr>
      </p:sp>
      <p:sp>
        <p:nvSpPr>
          <p:cNvPr id="26" name="Shape 19"/>
          <p:cNvSpPr/>
          <p:nvPr/>
        </p:nvSpPr>
        <p:spPr>
          <a:xfrm>
            <a:off x="2615184" y="244144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5" descr="/home/claude/reloop/pptx/icons/rupe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2523744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615184" y="2825496"/>
            <a:ext cx="17334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₹42,800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2615184" y="3118104"/>
            <a:ext cx="17334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Earned (mo.)</a:t>
            </a:r>
            <a:endParaRPr lang="en-US" sz="760" dirty="0"/>
          </a:p>
        </p:txBody>
      </p:sp>
      <p:sp>
        <p:nvSpPr>
          <p:cNvPr id="30" name="Shape 22"/>
          <p:cNvSpPr/>
          <p:nvPr/>
        </p:nvSpPr>
        <p:spPr>
          <a:xfrm>
            <a:off x="4750994" y="2295144"/>
            <a:ext cx="2007794" cy="914400"/>
          </a:xfrm>
          <a:prstGeom prst="roundRect">
            <a:avLst>
              <a:gd name="adj" fmla="val 8000"/>
            </a:avLst>
          </a:prstGeom>
          <a:solidFill>
            <a:srgbClr val="F1F8F0"/>
          </a:solidFill>
          <a:ln/>
        </p:spPr>
      </p:sp>
      <p:sp>
        <p:nvSpPr>
          <p:cNvPr id="31" name="Shape 23"/>
          <p:cNvSpPr/>
          <p:nvPr/>
        </p:nvSpPr>
        <p:spPr>
          <a:xfrm>
            <a:off x="4897298" y="244144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6" descr="/home/claude/reloop/pptx/icons/tin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9594" y="2523744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97298" y="2825496"/>
            <a:ext cx="17334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L</a:t>
            </a:r>
            <a:endParaRPr lang="en-US" sz="1550" dirty="0"/>
          </a:p>
        </p:txBody>
      </p:sp>
      <p:sp>
        <p:nvSpPr>
          <p:cNvPr id="34" name="Text 25"/>
          <p:cNvSpPr/>
          <p:nvPr/>
        </p:nvSpPr>
        <p:spPr>
          <a:xfrm>
            <a:off x="4897298" y="3118104"/>
            <a:ext cx="17334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Diverted</a:t>
            </a:r>
            <a:endParaRPr lang="en-US" sz="760" dirty="0"/>
          </a:p>
        </p:txBody>
      </p:sp>
      <p:sp>
        <p:nvSpPr>
          <p:cNvPr id="35" name="Shape 26"/>
          <p:cNvSpPr/>
          <p:nvPr/>
        </p:nvSpPr>
        <p:spPr>
          <a:xfrm>
            <a:off x="7033108" y="2295144"/>
            <a:ext cx="2007794" cy="914400"/>
          </a:xfrm>
          <a:prstGeom prst="roundRect">
            <a:avLst>
              <a:gd name="adj" fmla="val 8000"/>
            </a:avLst>
          </a:prstGeom>
          <a:solidFill>
            <a:srgbClr val="F1F8F0"/>
          </a:solidFill>
          <a:ln/>
        </p:spPr>
      </p:sp>
      <p:sp>
        <p:nvSpPr>
          <p:cNvPr id="36" name="Shape 27"/>
          <p:cNvSpPr/>
          <p:nvPr/>
        </p:nvSpPr>
        <p:spPr>
          <a:xfrm>
            <a:off x="7179412" y="2441448"/>
            <a:ext cx="365760" cy="36576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37" name="Image 7" descr="/home/claude/reloop/pptx/icons/lapto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708" y="2523744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79412" y="2825496"/>
            <a:ext cx="17334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550" dirty="0"/>
          </a:p>
        </p:txBody>
      </p:sp>
      <p:sp>
        <p:nvSpPr>
          <p:cNvPr id="39" name="Text 29"/>
          <p:cNvSpPr/>
          <p:nvPr/>
        </p:nvSpPr>
        <p:spPr>
          <a:xfrm>
            <a:off x="7179412" y="3118104"/>
            <a:ext cx="17334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Items Listed</a:t>
            </a:r>
            <a:endParaRPr lang="en-US" sz="760" dirty="0"/>
          </a:p>
        </p:txBody>
      </p:sp>
      <p:sp>
        <p:nvSpPr>
          <p:cNvPr id="40" name="Shape 30"/>
          <p:cNvSpPr/>
          <p:nvPr/>
        </p:nvSpPr>
        <p:spPr>
          <a:xfrm>
            <a:off x="9315221" y="2295144"/>
            <a:ext cx="2007794" cy="914400"/>
          </a:xfrm>
          <a:prstGeom prst="roundRect">
            <a:avLst>
              <a:gd name="adj" fmla="val 8000"/>
            </a:avLst>
          </a:prstGeom>
          <a:solidFill>
            <a:srgbClr val="F1F8F0"/>
          </a:solidFill>
          <a:ln/>
        </p:spPr>
      </p:sp>
      <p:sp>
        <p:nvSpPr>
          <p:cNvPr id="41" name="Shape 31"/>
          <p:cNvSpPr/>
          <p:nvPr/>
        </p:nvSpPr>
        <p:spPr>
          <a:xfrm>
            <a:off x="9461525" y="2441448"/>
            <a:ext cx="365760" cy="36576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42" name="Image 8" descr="/home/claude/reloop/pptx/icons/cloudRai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3821" y="2523744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461525" y="2825496"/>
            <a:ext cx="17334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9.2K L</a:t>
            </a:r>
            <a:endParaRPr lang="en-US" sz="1550" dirty="0"/>
          </a:p>
        </p:txBody>
      </p:sp>
      <p:sp>
        <p:nvSpPr>
          <p:cNvPr id="44" name="Text 33"/>
          <p:cNvSpPr/>
          <p:nvPr/>
        </p:nvSpPr>
        <p:spPr>
          <a:xfrm>
            <a:off x="9461525" y="3118104"/>
            <a:ext cx="17334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 (mo.)</a:t>
            </a:r>
            <a:endParaRPr lang="en-US" sz="760" dirty="0"/>
          </a:p>
        </p:txBody>
      </p:sp>
      <p:sp>
        <p:nvSpPr>
          <p:cNvPr id="45" name="Text 34"/>
          <p:cNvSpPr/>
          <p:nvPr/>
        </p:nvSpPr>
        <p:spPr>
          <a:xfrm>
            <a:off x="2468880" y="3392424"/>
            <a:ext cx="4958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Earned — Oil vs. E-Waste (Last 5 Weeks)</a:t>
            </a:r>
            <a:endParaRPr lang="en-US" sz="102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468880" y="3685032"/>
          <a:ext cx="4958316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7" name="Text 35"/>
          <p:cNvSpPr/>
          <p:nvPr/>
        </p:nvSpPr>
        <p:spPr>
          <a:xfrm>
            <a:off x="7701516" y="3392424"/>
            <a:ext cx="3621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Diverting Departments</a:t>
            </a:r>
            <a:endParaRPr lang="en-US" sz="1020" dirty="0"/>
          </a:p>
        </p:txBody>
      </p:sp>
      <p:sp>
        <p:nvSpPr>
          <p:cNvPr id="48" name="Text 36"/>
          <p:cNvSpPr/>
          <p:nvPr/>
        </p:nvSpPr>
        <p:spPr>
          <a:xfrm>
            <a:off x="7701516" y="3776472"/>
            <a:ext cx="36214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Dept.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7701516" y="3995928"/>
            <a:ext cx="3621499" cy="146304"/>
          </a:xfrm>
          <a:prstGeom prst="roundRect">
            <a:avLst>
              <a:gd name="adj" fmla="val 50000"/>
            </a:avLst>
          </a:prstGeom>
          <a:solidFill>
            <a:srgbClr val="EDF3ED"/>
          </a:solidFill>
          <a:ln/>
        </p:spPr>
      </p:sp>
      <p:sp>
        <p:nvSpPr>
          <p:cNvPr id="50" name="Shape 38"/>
          <p:cNvSpPr/>
          <p:nvPr/>
        </p:nvSpPr>
        <p:spPr>
          <a:xfrm>
            <a:off x="7701516" y="3995928"/>
            <a:ext cx="3295565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1" name="Text 39"/>
          <p:cNvSpPr/>
          <p:nvPr/>
        </p:nvSpPr>
        <p:spPr>
          <a:xfrm>
            <a:off x="7701516" y="4343400"/>
            <a:ext cx="36214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Mess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7701516" y="4562856"/>
            <a:ext cx="3621499" cy="146304"/>
          </a:xfrm>
          <a:prstGeom prst="roundRect">
            <a:avLst>
              <a:gd name="adj" fmla="val 50000"/>
            </a:avLst>
          </a:prstGeom>
          <a:solidFill>
            <a:srgbClr val="EDF3ED"/>
          </a:solidFill>
          <a:ln/>
        </p:spPr>
      </p:sp>
      <p:sp>
        <p:nvSpPr>
          <p:cNvPr id="53" name="Shape 41"/>
          <p:cNvSpPr/>
          <p:nvPr/>
        </p:nvSpPr>
        <p:spPr>
          <a:xfrm>
            <a:off x="7701516" y="4562856"/>
            <a:ext cx="2607480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4" name="Text 42"/>
          <p:cNvSpPr/>
          <p:nvPr/>
        </p:nvSpPr>
        <p:spPr>
          <a:xfrm>
            <a:off x="7701516" y="4910328"/>
            <a:ext cx="36214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Lab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7701516" y="5129784"/>
            <a:ext cx="3621499" cy="146304"/>
          </a:xfrm>
          <a:prstGeom prst="roundRect">
            <a:avLst>
              <a:gd name="adj" fmla="val 50000"/>
            </a:avLst>
          </a:prstGeom>
          <a:solidFill>
            <a:srgbClr val="EDF3ED"/>
          </a:solidFill>
          <a:ln/>
        </p:spPr>
      </p:sp>
      <p:sp>
        <p:nvSpPr>
          <p:cNvPr id="56" name="Shape 44"/>
          <p:cNvSpPr/>
          <p:nvPr/>
        </p:nvSpPr>
        <p:spPr>
          <a:xfrm>
            <a:off x="7701516" y="5129784"/>
            <a:ext cx="1955610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7" name="Text 4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preview — sample data shown for demonstration.</a:t>
            </a:r>
            <a:endParaRPr lang="en-US" sz="950" dirty="0"/>
          </a:p>
        </p:txBody>
      </p:sp>
      <p:sp>
        <p:nvSpPr>
          <p:cNvPr id="58" name="Text 4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59" name="Text 47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layered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9528" y="1463040"/>
            <a:ext cx="9692640" cy="676656"/>
          </a:xfrm>
          <a:prstGeom prst="roundRect">
            <a:avLst>
              <a:gd name="adj" fmla="val 12162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01600" dist="25400" dir="5400000">
              <a:srgbClr val="1B5E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4120" y="159105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reloop/pptx/icons/desktop_g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451" y="1679387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6768" y="15179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026768" y="1801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 ·  Mobile PWA  ·  Public Impact Leaderboard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44488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7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buyer browses live oil listings near campus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5848" y="2167128"/>
            <a:ext cx="0" cy="1920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headEnd type="triangl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249528" y="2386584"/>
            <a:ext cx="9692640" cy="676656"/>
          </a:xfrm>
          <a:prstGeom prst="roundRect">
            <a:avLst>
              <a:gd name="adj" fmla="val 12162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25400" dir="5400000">
              <a:srgbClr val="1B5E2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14120" y="2514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reloop/pptx/icons/cogs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51" y="2602931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6768" y="24414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026768" y="27249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&amp; Bidding Engine  ·  Pickup Scheduling  ·  Auth (JWT/OAuth2)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644488" y="2587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7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bid is matched and pickup is auto-scheduled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5848" y="3090672"/>
            <a:ext cx="0" cy="1920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headEnd type="triangl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1249528" y="3310128"/>
            <a:ext cx="9692640" cy="676656"/>
          </a:xfrm>
          <a:prstGeom prst="roundRect">
            <a:avLst>
              <a:gd name="adj" fmla="val 12162"/>
            </a:avLst>
          </a:prstGeom>
          <a:solidFill>
            <a:srgbClr val="388E3C"/>
          </a:solidFill>
          <a:ln/>
          <a:effectLst>
            <a:outerShdw sx="100000" sy="100000" kx="0" ky="0" algn="bl" rotWithShape="0" blurRad="101600" dist="25400" dir="5400000">
              <a:srgbClr val="1B5E2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414120" y="34381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reloop/pptx/icons/brain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51" y="3526475"/>
            <a:ext cx="243962" cy="243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26768" y="3364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INTELLIGENCE LAYER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026768" y="3648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 ·  E-Waste Triage  ·  Rainwater Forecast  ·  Demand Matching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644488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7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model suggests ₹38/L for 50L used cooking oil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95848" y="4014216"/>
            <a:ext cx="0" cy="1920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headEnd type="triangl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1249528" y="4233672"/>
            <a:ext cx="9692640" cy="676656"/>
          </a:xfrm>
          <a:prstGeom prst="roundRect">
            <a:avLst>
              <a:gd name="adj" fmla="val 12162"/>
            </a:avLst>
          </a:prstGeom>
          <a:solidFill>
            <a:srgbClr val="43A047"/>
          </a:solidFill>
          <a:ln/>
          <a:effectLst>
            <a:outerShdw sx="100000" sy="100000" kx="0" ky="0" algn="bl" rotWithShape="0" blurRad="101600" dist="25400" dir="5400000">
              <a:srgbClr val="1B5E2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414120" y="43616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reloop/pptx/icons/databas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51" y="4450019"/>
            <a:ext cx="243962" cy="2439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26768" y="42885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026768" y="4572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(Listings/Transactions)  ·  Time-Series (Rainfall/Price)  ·  Cloud Storage (Photos)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644488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7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6 months of price history retained for trends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95848" y="4937760"/>
            <a:ext cx="0" cy="1920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  <a:headEnd type="triangle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1249528" y="5157216"/>
            <a:ext cx="9692640" cy="676656"/>
          </a:xfrm>
          <a:prstGeom prst="roundRect">
            <a:avLst>
              <a:gd name="adj" fmla="val 12162"/>
            </a:avLst>
          </a:prstGeom>
          <a:solidFill>
            <a:srgbClr val="66BB6A"/>
          </a:solidFill>
          <a:ln/>
          <a:effectLst>
            <a:outerShdw sx="100000" sy="100000" kx="0" ky="0" algn="bl" rotWithShape="0" blurRad="101600" dist="25400" dir="5400000">
              <a:srgbClr val="1B5E2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414120" y="52852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/home/claude/reloop/pptx/icons/syncAlt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451" y="5373563"/>
            <a:ext cx="243962" cy="24396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026768" y="5212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LAYER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2026768" y="549554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Weather/Rainfall API  ·  Payment Gateway API  ·  Recycler/Buyer APIs  ·  CSV/Manual Entry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644488" y="5358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7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nightly sync pulls regional rainfall data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40080" y="599846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&amp; data flow up into the AI core; pricing, triage, and forecasts flow back out — closing the loop between data and action.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production-grade, open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479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reloop/pptx/icons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684" y="189207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8658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64261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component-based, PWA-ready UI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68698" y="15087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3018" y="176479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/home/claude/reloop/pptx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303" y="1892076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3018" y="238658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3018" y="264261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3018" y="288036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engine, bidding logic, REST APIs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97317" y="15087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1637" y="176479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2" descr="/home/claude/reloop/pptx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921" y="1892076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1637" y="238658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71637" y="264261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71637" y="288036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Listings/transactions + rainfall/price trends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47472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373075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4" name="Image 3" descr="/home/claude/reloop/pptx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684" y="3858036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435254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4400" y="460857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Prophet, XGBoost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14400" y="484632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prediction, triage, rainfall forecasting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68698" y="347472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3018" y="373075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0" name="Image 4" descr="/home/claude/reloop/pptx/icons/sync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303" y="3858036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43018" y="435254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643018" y="460857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+ Payment Gateway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643018" y="484632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&amp; transactions — no new hardware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97317" y="347472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1637" y="373075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6" name="Image 5" descr="/home/claude/reloop/pptx/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921" y="3858036"/>
            <a:ext cx="275783" cy="27578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71637" y="4352544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371637" y="4608576"/>
            <a:ext cx="29056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Docker / GitHub Actions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71637" y="4846320"/>
            <a:ext cx="29056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scalability, automated deployment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169768" y="5394960"/>
            <a:ext cx="5852160" cy="420624"/>
          </a:xfrm>
          <a:prstGeom prst="roundRect">
            <a:avLst>
              <a:gd name="adj" fmla="val 50000"/>
            </a:avLst>
          </a:prstGeom>
          <a:solidFill>
            <a:srgbClr val="F1F8F0"/>
          </a:solidFill>
          <a:ln/>
        </p:spPr>
      </p:sp>
      <p:sp>
        <p:nvSpPr>
          <p:cNvPr id="41" name="Text 33"/>
          <p:cNvSpPr/>
          <p:nvPr/>
        </p:nvSpPr>
        <p:spPr>
          <a:xfrm>
            <a:off x="3169768" y="53949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 ·  cloud-native  ·  zero new hardware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ReLoop — and not three separate apps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011680" cy="50292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2697480" cy="50292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Scrap/E-Waste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508760"/>
            <a:ext cx="2743200" cy="50292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Listing 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508760"/>
            <a:ext cx="3456432" cy="502920"/>
          </a:xfrm>
          <a:prstGeom prst="rect">
            <a:avLst/>
          </a:prstGeom>
          <a:solidFill>
            <a:srgbClr val="F59E0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508760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116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011680"/>
            <a:ext cx="2697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0116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2011680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0116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items, no category depth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2440" y="2011680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1168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+ E-Waste + Water, one platform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542032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2542032"/>
            <a:ext cx="269748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5420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guesses the price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9240" y="2542032"/>
            <a:ext cx="274320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5420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guidance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2542032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54203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fair price range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0723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3072384"/>
            <a:ext cx="2697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anyone, fraud risk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49240" y="3072384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0723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072384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307238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buyer/recycler network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602736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6027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51760" y="3602736"/>
            <a:ext cx="269748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6027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just a listing board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49240" y="3602736"/>
            <a:ext cx="274320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6027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92440" y="3602736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60273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+ demand matching + forecasting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133088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1330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51760" y="4133088"/>
            <a:ext cx="2697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41330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reporting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49240" y="4133088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1330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92440" y="4133088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413308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tracking records for CSR/ESG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4663440"/>
            <a:ext cx="2011680" cy="530352"/>
          </a:xfrm>
          <a:prstGeom prst="rect">
            <a:avLst/>
          </a:prstGeom>
          <a:solidFill>
            <a:srgbClr val="F5F8F5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4663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51760" y="4663440"/>
            <a:ext cx="269748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6634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49240" y="4663440"/>
            <a:ext cx="2743200" cy="530352"/>
          </a:xfrm>
          <a:prstGeom prst="rect">
            <a:avLst/>
          </a:prstGeom>
          <a:solidFill>
            <a:srgbClr val="FAFCFA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46634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092440" y="4663440"/>
            <a:ext cx="3456432" cy="530352"/>
          </a:xfrm>
          <a:prstGeom prst="rect">
            <a:avLst/>
          </a:prstGeom>
          <a:solidFill>
            <a:srgbClr val="FDF3E3"/>
          </a:solidFill>
          <a:ln w="9525">
            <a:solidFill>
              <a:srgbClr val="E2E8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4663440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fully software, API-driven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40080" y="54681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is the only one of the three that connects, prices, verifies, and reports — in one system.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UN Sustainable Development Goals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2031949" y="1737360"/>
            <a:ext cx="548640" cy="54864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6" name="Text 6"/>
          <p:cNvSpPr/>
          <p:nvPr/>
        </p:nvSpPr>
        <p:spPr>
          <a:xfrm>
            <a:off x="2031949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7"/>
          <p:cNvSpPr/>
          <p:nvPr/>
        </p:nvSpPr>
        <p:spPr>
          <a:xfrm>
            <a:off x="822960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 — Clean Water &amp; Sanitation</a:t>
            </a:r>
            <a:endParaRPr lang="en-US" sz="1150" dirty="0"/>
          </a:p>
        </p:txBody>
      </p:sp>
      <p:sp>
        <p:nvSpPr>
          <p:cNvPr id="8" name="Text 8"/>
          <p:cNvSpPr/>
          <p:nvPr/>
        </p:nvSpPr>
        <p:spPr>
          <a:xfrm>
            <a:off x="822960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harvesting conserves water &amp; cuts dependence on municipal supply.</a:t>
            </a:r>
            <a:endParaRPr lang="en-US" sz="900" dirty="0"/>
          </a:p>
        </p:txBody>
      </p:sp>
      <p:sp>
        <p:nvSpPr>
          <p:cNvPr id="9" name="Shape 9"/>
          <p:cNvSpPr/>
          <p:nvPr/>
        </p:nvSpPr>
        <p:spPr>
          <a:xfrm>
            <a:off x="4429658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5821527" y="1737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11"/>
          <p:cNvSpPr/>
          <p:nvPr/>
        </p:nvSpPr>
        <p:spPr>
          <a:xfrm>
            <a:off x="5821527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12" name="Text 12"/>
          <p:cNvSpPr/>
          <p:nvPr/>
        </p:nvSpPr>
        <p:spPr>
          <a:xfrm>
            <a:off x="4612538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 — Sustainable Cities &amp; Communities</a:t>
            </a:r>
            <a:endParaRPr lang="en-US" sz="1150" dirty="0"/>
          </a:p>
        </p:txBody>
      </p:sp>
      <p:sp>
        <p:nvSpPr>
          <p:cNvPr id="13" name="Text 13"/>
          <p:cNvSpPr/>
          <p:nvPr/>
        </p:nvSpPr>
        <p:spPr>
          <a:xfrm>
            <a:off x="4612538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circular economy strengthens institutional sustainability &amp; green-campus (NAAC/NIRF) metrics.</a:t>
            </a:r>
            <a:endParaRPr lang="en-US" sz="900" dirty="0"/>
          </a:p>
        </p:txBody>
      </p:sp>
      <p:sp>
        <p:nvSpPr>
          <p:cNvPr id="14" name="Shape 14"/>
          <p:cNvSpPr/>
          <p:nvPr/>
        </p:nvSpPr>
        <p:spPr>
          <a:xfrm>
            <a:off x="8219236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9611105" y="1737360"/>
            <a:ext cx="548640" cy="5486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6"/>
          <p:cNvSpPr/>
          <p:nvPr/>
        </p:nvSpPr>
        <p:spPr>
          <a:xfrm>
            <a:off x="9611105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Text 17"/>
          <p:cNvSpPr/>
          <p:nvPr/>
        </p:nvSpPr>
        <p:spPr>
          <a:xfrm>
            <a:off x="8402116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 — Responsible Consumption &amp; Production</a:t>
            </a:r>
            <a:endParaRPr lang="en-US" sz="1150" dirty="0"/>
          </a:p>
        </p:txBody>
      </p:sp>
      <p:sp>
        <p:nvSpPr>
          <p:cNvPr id="18" name="Text 18"/>
          <p:cNvSpPr/>
          <p:nvPr/>
        </p:nvSpPr>
        <p:spPr>
          <a:xfrm>
            <a:off x="8402116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waste oil, e-waste &amp; water become tradeable resources, not disposal problems.</a:t>
            </a:r>
            <a:endParaRPr lang="en-US" sz="900" dirty="0"/>
          </a:p>
        </p:txBody>
      </p:sp>
      <p:sp>
        <p:nvSpPr>
          <p:cNvPr id="19" name="Shape 19"/>
          <p:cNvSpPr/>
          <p:nvPr/>
        </p:nvSpPr>
        <p:spPr>
          <a:xfrm>
            <a:off x="640080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2031949" y="3945636"/>
            <a:ext cx="548640" cy="54864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21"/>
          <p:cNvSpPr/>
          <p:nvPr/>
        </p:nvSpPr>
        <p:spPr>
          <a:xfrm>
            <a:off x="2031949" y="39456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2" name="Text 22"/>
          <p:cNvSpPr/>
          <p:nvPr/>
        </p:nvSpPr>
        <p:spPr>
          <a:xfrm>
            <a:off x="822960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 — Climate Action</a:t>
            </a:r>
            <a:endParaRPr lang="en-US" sz="1150" dirty="0"/>
          </a:p>
        </p:txBody>
      </p:sp>
      <p:sp>
        <p:nvSpPr>
          <p:cNvPr id="23" name="Text 23"/>
          <p:cNvSpPr/>
          <p:nvPr/>
        </p:nvSpPr>
        <p:spPr>
          <a:xfrm>
            <a:off x="822960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tracking, landfill/drain diversion &amp; biodiesel production together cut emissions.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429658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5821527" y="39456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6"/>
          <p:cNvSpPr/>
          <p:nvPr/>
        </p:nvSpPr>
        <p:spPr>
          <a:xfrm>
            <a:off x="5821527" y="39456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27" name="Text 27"/>
          <p:cNvSpPr/>
          <p:nvPr/>
        </p:nvSpPr>
        <p:spPr>
          <a:xfrm>
            <a:off x="4612538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17 — Partnerships for the Goals</a:t>
            </a:r>
            <a:endParaRPr lang="en-US" sz="1150" dirty="0"/>
          </a:p>
        </p:txBody>
      </p:sp>
      <p:sp>
        <p:nvSpPr>
          <p:cNvPr id="28" name="Text 28"/>
          <p:cNvSpPr/>
          <p:nvPr/>
        </p:nvSpPr>
        <p:spPr>
          <a:xfrm>
            <a:off x="4612538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recycler &amp; biodiesel partnerships, donation pathways &amp; CSR/ESG reporting.</a:t>
            </a:r>
            <a:endParaRPr lang="en-US" sz="900" dirty="0"/>
          </a:p>
        </p:txBody>
      </p:sp>
      <p:sp>
        <p:nvSpPr>
          <p:cNvPr id="29" name="Shape 29"/>
          <p:cNvSpPr/>
          <p:nvPr/>
        </p:nvSpPr>
        <p:spPr>
          <a:xfrm>
            <a:off x="8219236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0" name="Shape 30"/>
          <p:cNvSpPr/>
          <p:nvPr/>
        </p:nvSpPr>
        <p:spPr>
          <a:xfrm>
            <a:off x="9611105" y="3945636"/>
            <a:ext cx="548640" cy="5486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1" name="Text 31"/>
          <p:cNvSpPr/>
          <p:nvPr/>
        </p:nvSpPr>
        <p:spPr>
          <a:xfrm>
            <a:off x="9611105" y="39456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Text 32"/>
          <p:cNvSpPr/>
          <p:nvPr/>
        </p:nvSpPr>
        <p:spPr>
          <a:xfrm>
            <a:off x="8402116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 — Decent Work &amp; Economic Growth (Bonus)</a:t>
            </a:r>
            <a:endParaRPr lang="en-US" sz="1150" dirty="0"/>
          </a:p>
        </p:txBody>
      </p:sp>
      <p:sp>
        <p:nvSpPr>
          <p:cNvPr id="33" name="Text 33"/>
          <p:cNvSpPr/>
          <p:nvPr/>
        </p:nvSpPr>
        <p:spPr>
          <a:xfrm>
            <a:off x="8402116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 institutions, income for recyclers &amp; buyers — a circular job ecosystem.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58795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goals, one platform — ReLoop positions itself as an audit-ready, ESG-aligned sustainability layer for any campus.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building ReLoop</a:t>
            </a:r>
            <a:endParaRPr lang="en-US" sz="3000" dirty="0"/>
          </a:p>
        </p:txBody>
      </p:sp>
      <p:sp>
        <p:nvSpPr>
          <p:cNvPr id="4" name="Shape 4"/>
          <p:cNvSpPr/>
          <p:nvPr/>
        </p:nvSpPr>
        <p:spPr>
          <a:xfrm>
            <a:off x="640080" y="2429256"/>
            <a:ext cx="2522143" cy="2515632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1512531" y="2703576"/>
            <a:ext cx="777240" cy="7772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6" name="Image 6" descr="/home/claude/reloop/pptx/icons/image-3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41" y="2897886"/>
            <a:ext cx="388620" cy="38862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822960" y="3617976"/>
            <a:ext cx="2156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Hassan Kalal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822960" y="3983736"/>
            <a:ext cx="2156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INTEGRATOR</a:t>
            </a:r>
            <a:endParaRPr lang="en-US" sz="950" dirty="0"/>
          </a:p>
        </p:txBody>
      </p:sp>
      <p:sp>
        <p:nvSpPr>
          <p:cNvPr id="9" name="Text 9"/>
          <p:cNvSpPr/>
          <p:nvPr/>
        </p:nvSpPr>
        <p:spPr>
          <a:xfrm>
            <a:off x="822960" y="4395216"/>
            <a:ext cx="2156383" cy="36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tunes the AI models for pricing, triage &amp; rainfall forecasting.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3436543" y="2429256"/>
            <a:ext cx="2522143" cy="2515632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4308994" y="2703576"/>
            <a:ext cx="777240" cy="7772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12" descr="/home/claude/reloop/pptx/icons/image-7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304" y="2897886"/>
            <a:ext cx="388620" cy="388620"/>
          </a:xfrm>
          <a:prstGeom prst="rect">
            <a:avLst/>
          </a:prstGeom>
        </p:spPr>
      </p:pic>
      <p:sp>
        <p:nvSpPr>
          <p:cNvPr id="13" name="Text 13"/>
          <p:cNvSpPr/>
          <p:nvPr/>
        </p:nvSpPr>
        <p:spPr>
          <a:xfrm>
            <a:off x="3619423" y="3617976"/>
            <a:ext cx="2156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Shivam Mathur</a:t>
            </a:r>
            <a:endParaRPr lang="en-US" sz="1300" dirty="0"/>
          </a:p>
        </p:txBody>
      </p:sp>
      <p:sp>
        <p:nvSpPr>
          <p:cNvPr id="14" name="Text 14"/>
          <p:cNvSpPr/>
          <p:nvPr/>
        </p:nvSpPr>
        <p:spPr>
          <a:xfrm>
            <a:off x="3619423" y="3983736"/>
            <a:ext cx="2156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950" dirty="0"/>
          </a:p>
        </p:txBody>
      </p:sp>
      <p:sp>
        <p:nvSpPr>
          <p:cNvPr id="15" name="Text 15"/>
          <p:cNvSpPr/>
          <p:nvPr/>
        </p:nvSpPr>
        <p:spPr>
          <a:xfrm>
            <a:off x="3619423" y="4395216"/>
            <a:ext cx="2156383" cy="36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web platform end-to-end, from APIs to the live dashboard.</a:t>
            </a:r>
            <a:endParaRPr lang="en-US" sz="1000" dirty="0"/>
          </a:p>
        </p:txBody>
      </p:sp>
      <p:sp>
        <p:nvSpPr>
          <p:cNvPr id="16" name="Shape 16"/>
          <p:cNvSpPr/>
          <p:nvPr/>
        </p:nvSpPr>
        <p:spPr>
          <a:xfrm>
            <a:off x="6233006" y="2429256"/>
            <a:ext cx="2522143" cy="2515632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105457" y="2703576"/>
            <a:ext cx="777240" cy="7772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8" name="Image 18" descr="/home/claude/reloop/pptx/icons/image-3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767" y="2897886"/>
            <a:ext cx="388620" cy="388620"/>
          </a:xfrm>
          <a:prstGeom prst="rect">
            <a:avLst/>
          </a:prstGeom>
        </p:spPr>
      </p:pic>
      <p:sp>
        <p:nvSpPr>
          <p:cNvPr id="19" name="Text 19"/>
          <p:cNvSpPr/>
          <p:nvPr/>
        </p:nvSpPr>
        <p:spPr>
          <a:xfrm>
            <a:off x="6415886" y="3617976"/>
            <a:ext cx="2156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Arnav Shahi</a:t>
            </a:r>
            <a:endParaRPr lang="en-US" sz="1300" dirty="0"/>
          </a:p>
        </p:txBody>
      </p:sp>
      <p:sp>
        <p:nvSpPr>
          <p:cNvPr id="20" name="Text 20"/>
          <p:cNvSpPr/>
          <p:nvPr/>
        </p:nvSpPr>
        <p:spPr>
          <a:xfrm>
            <a:off x="6415886" y="3983736"/>
            <a:ext cx="2156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DATA ANALYZER</a:t>
            </a:r>
            <a:endParaRPr lang="en-US" sz="950" dirty="0"/>
          </a:p>
        </p:txBody>
      </p:sp>
      <p:sp>
        <p:nvSpPr>
          <p:cNvPr id="21" name="Text 21"/>
          <p:cNvSpPr/>
          <p:nvPr/>
        </p:nvSpPr>
        <p:spPr>
          <a:xfrm>
            <a:off x="6415886" y="4395216"/>
            <a:ext cx="2156383" cy="36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market research, data validation &amp; impact metrics.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9029469" y="2429256"/>
            <a:ext cx="2522143" cy="2515632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3" name="Shape 23"/>
          <p:cNvSpPr/>
          <p:nvPr/>
        </p:nvSpPr>
        <p:spPr>
          <a:xfrm>
            <a:off x="9901920" y="2703576"/>
            <a:ext cx="777240" cy="7772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4" name="Image 24" descr="/home/claude/reloop/pptx/icons/image-8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230" y="2897886"/>
            <a:ext cx="388620" cy="388620"/>
          </a:xfrm>
          <a:prstGeom prst="rect">
            <a:avLst/>
          </a:prstGeom>
        </p:spPr>
      </p:pic>
      <p:sp>
        <p:nvSpPr>
          <p:cNvPr id="25" name="Text 25"/>
          <p:cNvSpPr/>
          <p:nvPr/>
        </p:nvSpPr>
        <p:spPr>
          <a:xfrm>
            <a:off x="9212349" y="3617976"/>
            <a:ext cx="2156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Mohit Sapkal</a:t>
            </a:r>
            <a:endParaRPr lang="en-US" sz="1300" dirty="0"/>
          </a:p>
        </p:txBody>
      </p:sp>
      <p:sp>
        <p:nvSpPr>
          <p:cNvPr id="26" name="Text 26"/>
          <p:cNvSpPr/>
          <p:nvPr/>
        </p:nvSpPr>
        <p:spPr>
          <a:xfrm>
            <a:off x="9212349" y="3983736"/>
            <a:ext cx="2156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&amp; UI/UX DESIGNER</a:t>
            </a:r>
            <a:endParaRPr lang="en-US" sz="950" dirty="0"/>
          </a:p>
        </p:txBody>
      </p:sp>
      <p:sp>
        <p:nvSpPr>
          <p:cNvPr id="27" name="Text 27"/>
          <p:cNvSpPr/>
          <p:nvPr/>
        </p:nvSpPr>
        <p:spPr>
          <a:xfrm>
            <a:off x="9212349" y="4395216"/>
            <a:ext cx="2156383" cy="36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and builds the user-facing interface &amp; experience.</a:t>
            </a:r>
            <a:endParaRPr lang="en-US" sz="1000" dirty="0"/>
          </a:p>
        </p:txBody>
      </p:sp>
---RIDMAP---
rId4	image-3-4.png
rId5	image-7-12.png
rId6	image-3-5.png
rId7	image-8-1.png
      <p:sp>
        <p:nvSpPr>
          <p:cNvPr id="11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phased, buildable rollout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697480"/>
            <a:ext cx="9235440" cy="0"/>
          </a:xfrm>
          <a:prstGeom prst="line">
            <a:avLst/>
          </a:prstGeom>
          <a:noFill/>
          <a:ln w="19050">
            <a:solidFill>
              <a:srgbClr val="3E7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4460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2446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+ e-waste live, 2-3 buyers onboarded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0060" y="24460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290060" y="2446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699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6992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&amp; triage trained, rainwater module added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8540" y="24460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68540" y="2446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Rollout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48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Multi-campus, payments, leaderboard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447020" y="24460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447020" y="2446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91295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91295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onboarding, multi-city network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4114800" cy="0"/>
          </a:xfrm>
          <a:prstGeom prst="line">
            <a:avLst/>
          </a:prstGeom>
          <a:noFill/>
          <a:ln w="12700">
            <a:solidFill>
              <a:srgbClr val="3E7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ReLoop</a:t>
            </a:r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 — waste isn't waste until no one's looking for it.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Revenue-generating, hardware-free, and built to solve its own cold-start problem from day one.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EcoNova  ·  Symbiosis University of Applied Sciences, Indore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reasons this wins the room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2031949" y="1737360"/>
            <a:ext cx="548640" cy="5486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6" name="Image 6" descr="icons/sync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9109" y="1874520"/>
            <a:ext cx="274320" cy="27432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822960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Not Three Apps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822960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Oil, e-waste &amp; water unified under one AI core and one dashboard — no other team solves all three together.</a:t>
            </a:r>
            <a:endParaRPr lang="en-US" sz="950" dirty="0"/>
          </a:p>
        </p:txBody>
      </p:sp>
      <p:sp>
        <p:nvSpPr>
          <p:cNvPr id="9" name="Shape 9"/>
          <p:cNvSpPr/>
          <p:nvPr/>
        </p:nvSpPr>
        <p:spPr>
          <a:xfrm>
            <a:off x="4429658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5821527" y="1737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1" descr="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687" y="1874520"/>
            <a:ext cx="274320" cy="274320"/>
          </a:xfrm>
          <a:prstGeom prst="rect">
            <a:avLst/>
          </a:prstGeom>
        </p:spPr>
      </p:pic>
      <p:sp>
        <p:nvSpPr>
          <p:cNvPr id="12" name="Text 12"/>
          <p:cNvSpPr/>
          <p:nvPr/>
        </p:nvSpPr>
        <p:spPr>
          <a:xfrm>
            <a:off x="4612538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New Hardware</a:t>
            </a:r>
            <a:endParaRPr lang="en-US" sz="1300" dirty="0"/>
          </a:p>
        </p:txBody>
      </p:sp>
      <p:sp>
        <p:nvSpPr>
          <p:cNvPr id="13" name="Text 13"/>
          <p:cNvSpPr/>
          <p:nvPr/>
        </p:nvSpPr>
        <p:spPr>
          <a:xfrm>
            <a:off x="4612538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software + API integration — pilot-ready in weeks, not budget cycles.</a:t>
            </a:r>
            <a:endParaRPr lang="en-US" sz="950" dirty="0"/>
          </a:p>
        </p:txBody>
      </p:sp>
      <p:sp>
        <p:nvSpPr>
          <p:cNvPr id="14" name="Shape 14"/>
          <p:cNvSpPr/>
          <p:nvPr/>
        </p:nvSpPr>
        <p:spPr>
          <a:xfrm>
            <a:off x="8219236" y="1554480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9611105" y="1737360"/>
            <a:ext cx="548640" cy="54864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6" name="Image 16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8265" y="1874520"/>
            <a:ext cx="274320" cy="274320"/>
          </a:xfrm>
          <a:prstGeom prst="rect">
            <a:avLst/>
          </a:prstGeom>
        </p:spPr>
      </p:pic>
      <p:sp>
        <p:nvSpPr>
          <p:cNvPr id="17" name="Text 17"/>
          <p:cNvSpPr/>
          <p:nvPr/>
        </p:nvSpPr>
        <p:spPr>
          <a:xfrm>
            <a:off x="8402116" y="23774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Removes the Guesswork</a:t>
            </a:r>
            <a:endParaRPr lang="en-US" sz="1300" dirty="0"/>
          </a:p>
        </p:txBody>
      </p:sp>
      <p:sp>
        <p:nvSpPr>
          <p:cNvPr id="18" name="Text 18"/>
          <p:cNvSpPr/>
          <p:nvPr/>
        </p:nvSpPr>
        <p:spPr>
          <a:xfrm>
            <a:off x="8402116" y="2834640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AI-suggested pricing &amp; demand matching, without manual negotiation.</a:t>
            </a:r>
            <a:endParaRPr lang="en-US" sz="950" dirty="0"/>
          </a:p>
        </p:txBody>
      </p:sp>
      <p:sp>
        <p:nvSpPr>
          <p:cNvPr id="19" name="Shape 19"/>
          <p:cNvSpPr/>
          <p:nvPr/>
        </p:nvSpPr>
        <p:spPr>
          <a:xfrm>
            <a:off x="640080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2031949" y="3945636"/>
            <a:ext cx="548640" cy="54864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1" name="Image 21" descr="icons/shield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9109" y="4082796"/>
            <a:ext cx="274320" cy="274320"/>
          </a:xfrm>
          <a:prstGeom prst="rect">
            <a:avLst/>
          </a:prstGeom>
        </p:spPr>
      </p:pic>
      <p:sp>
        <p:nvSpPr>
          <p:cNvPr id="22" name="Text 22"/>
          <p:cNvSpPr/>
          <p:nvPr/>
        </p:nvSpPr>
        <p:spPr>
          <a:xfrm>
            <a:off x="822960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Network, No Fraud Risk</a:t>
            </a:r>
            <a:endParaRPr lang="en-US" sz="1300" dirty="0"/>
          </a:p>
        </p:txBody>
      </p:sp>
      <p:sp>
        <p:nvSpPr>
          <p:cNvPr id="23" name="Text 23"/>
          <p:cNvSpPr/>
          <p:nvPr/>
        </p:nvSpPr>
        <p:spPr>
          <a:xfrm>
            <a:off x="822960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vetted buyers &amp; recyclers can transact — unlike open listing boards.</a:t>
            </a:r>
            <a:endParaRPr lang="en-US" sz="950" dirty="0"/>
          </a:p>
        </p:txBody>
      </p:sp>
      <p:sp>
        <p:nvSpPr>
          <p:cNvPr id="24" name="Shape 24"/>
          <p:cNvSpPr/>
          <p:nvPr/>
        </p:nvSpPr>
        <p:spPr>
          <a:xfrm>
            <a:off x="4429658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5821527" y="39456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26" descr="icons/clipboard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8687" y="4082796"/>
            <a:ext cx="274320" cy="274320"/>
          </a:xfrm>
          <a:prstGeom prst="rect">
            <a:avLst/>
          </a:prstGeom>
        </p:spPr>
      </p:pic>
      <p:sp>
        <p:nvSpPr>
          <p:cNvPr id="27" name="Text 27"/>
          <p:cNvSpPr/>
          <p:nvPr/>
        </p:nvSpPr>
        <p:spPr>
          <a:xfrm>
            <a:off x="4612538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Built In</a:t>
            </a:r>
            <a:endParaRPr lang="en-US" sz="1300" dirty="0"/>
          </a:p>
        </p:txBody>
      </p:sp>
      <p:sp>
        <p:nvSpPr>
          <p:cNvPr id="28" name="Text 28"/>
          <p:cNvSpPr/>
          <p:nvPr/>
        </p:nvSpPr>
        <p:spPr>
          <a:xfrm>
            <a:off x="4612538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CSR/ESG tracking maps straight to NAAC/NIRF accreditation.</a:t>
            </a:r>
            <a:endParaRPr lang="en-US" sz="950" dirty="0"/>
          </a:p>
        </p:txBody>
      </p:sp>
      <p:sp>
        <p:nvSpPr>
          <p:cNvPr id="29" name="Shape 29"/>
          <p:cNvSpPr/>
          <p:nvPr/>
        </p:nvSpPr>
        <p:spPr>
          <a:xfrm>
            <a:off x="8219236" y="3762756"/>
            <a:ext cx="3332378" cy="1933956"/>
          </a:xfrm>
          <a:prstGeom prst="roundRect">
            <a:avLst>
              <a:gd name="adj" fmla="val 2712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30" name="Shape 30"/>
          <p:cNvSpPr/>
          <p:nvPr/>
        </p:nvSpPr>
        <p:spPr>
          <a:xfrm>
            <a:off x="9611105" y="3945636"/>
            <a:ext cx="548640" cy="54864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31" name="Image 31" descr="icons/rupe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265" y="4082796"/>
            <a:ext cx="274320" cy="274320"/>
          </a:xfrm>
          <a:prstGeom prst="rect">
            <a:avLst/>
          </a:prstGeom>
        </p:spPr>
      </p:pic>
      <p:sp>
        <p:nvSpPr>
          <p:cNvPr id="32" name="Text 32"/>
          <p:cNvSpPr/>
          <p:nvPr/>
        </p:nvSpPr>
        <p:spPr>
          <a:xfrm>
            <a:off x="8402116" y="4585716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Revenue, Not Just Compliance</a:t>
            </a:r>
            <a:endParaRPr lang="en-US" sz="1300" dirty="0"/>
          </a:p>
        </p:txBody>
      </p:sp>
      <p:sp>
        <p:nvSpPr>
          <p:cNvPr id="33" name="Text 33"/>
          <p:cNvSpPr/>
          <p:nvPr/>
        </p:nvSpPr>
        <p:spPr>
          <a:xfrm>
            <a:off x="8402116" y="5042916"/>
            <a:ext cx="296661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earn from waste instead of paying disposal costs.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40080" y="58795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doesn’t ask institutions to spend on sustainability — it pays them to adopt it.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ReLoop earns, while institutions save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reloop/pptx/icons/tag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COMMISSION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commission on completed Oil Exchange &amp; E-Waste sales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directly with platform usage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keep the majority of resale 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8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F1F8F0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1691640"/>
            <a:ext cx="640080" cy="640080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1" name="Image 1" descr="/home/claude/reloop/pptx/icons/handshak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NETWORK FEE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3018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Biodiesel producers &amp; recyclers pay for verified lead access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get guaranteed, pre-vetted supply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partners onboard at no cost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7317" y="141732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E8F2FC"/>
          </a:solidFill>
          <a:ln/>
          <a:effectLst>
            <a:outerShdw sx="100000" sy="100000" kx="0" ky="0" algn="bl" rotWithShape="0" blurRad="101600" dist="38100" dir="5400000">
              <a:srgbClr val="1B5E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1691640"/>
            <a:ext cx="640080" cy="64008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6" name="Image 2" descr="/home/claude/reloop/pptx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18516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1637" y="246888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PLATFORM FEE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1637" y="2926080"/>
            <a:ext cx="29056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annual fee for dashboard, AI pricing &amp; forecasting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audit-ready CSR/ESG reporting exports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recurring revenue, independent of transaction volume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upside: ESG reporting-as-a-service, carbon credit facilitation &amp; white-label licensing to other campuses.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 · Hackathon Ideation Round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ReLoop</dc:title>
  <dc:subject>PptxGenJS Presentation</dc:subject>
  <dc:creator>Team ReLoop</dc:creator>
  <cp:lastModifiedBy>Team ReLoop</cp:lastModifiedBy>
  <cp:revision>1</cp:revision>
  <dcterms:created xsi:type="dcterms:W3CDTF">2026-06-22T05:49:53Z</dcterms:created>
  <dcterms:modified xsi:type="dcterms:W3CDTF">2026-06-22T05:49:53Z</dcterms:modified>
</cp:coreProperties>
</file>